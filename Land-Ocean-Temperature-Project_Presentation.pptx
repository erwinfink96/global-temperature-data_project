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1" r:id="rId4"/>
    <p:sldId id="258" r:id="rId5"/>
    <p:sldId id="259" r:id="rId6"/>
    <p:sldId id="260" r:id="rId7"/>
    <p:sldId id="261" r:id="rId8"/>
    <p:sldId id="272" r:id="rId9"/>
    <p:sldId id="270" r:id="rId10"/>
    <p:sldId id="274" r:id="rId11"/>
    <p:sldId id="262" r:id="rId12"/>
    <p:sldId id="263" r:id="rId13"/>
    <p:sldId id="264" r:id="rId14"/>
    <p:sldId id="269" r:id="rId15"/>
    <p:sldId id="265" r:id="rId16"/>
    <p:sldId id="266" r:id="rId17"/>
    <p:sldId id="267" r:id="rId18"/>
    <p:sldId id="268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272AC-4A9E-4DCF-96DE-108379407F79}" type="datetimeFigureOut">
              <a:rPr lang="de-AT" smtClean="0"/>
              <a:t>30.01.2026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9A4D1-EA8B-43D7-AE52-B0ED79F0AB7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92704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272AC-4A9E-4DCF-96DE-108379407F79}" type="datetimeFigureOut">
              <a:rPr lang="de-AT" smtClean="0"/>
              <a:t>30.01.2026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9A4D1-EA8B-43D7-AE52-B0ED79F0AB7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64000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272AC-4A9E-4DCF-96DE-108379407F79}" type="datetimeFigureOut">
              <a:rPr lang="de-AT" smtClean="0"/>
              <a:t>30.01.2026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9A4D1-EA8B-43D7-AE52-B0ED79F0AB7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686821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272AC-4A9E-4DCF-96DE-108379407F79}" type="datetimeFigureOut">
              <a:rPr lang="de-AT" smtClean="0"/>
              <a:t>30.01.2026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9A4D1-EA8B-43D7-AE52-B0ED79F0AB7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55551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272AC-4A9E-4DCF-96DE-108379407F79}" type="datetimeFigureOut">
              <a:rPr lang="de-AT" smtClean="0"/>
              <a:t>30.01.2026</a:t>
            </a:fld>
            <a:endParaRPr lang="de-A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9A4D1-EA8B-43D7-AE52-B0ED79F0AB7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137340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272AC-4A9E-4DCF-96DE-108379407F79}" type="datetimeFigureOut">
              <a:rPr lang="de-AT" smtClean="0"/>
              <a:t>30.01.2026</a:t>
            </a:fld>
            <a:endParaRPr lang="de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9A4D1-EA8B-43D7-AE52-B0ED79F0AB7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13398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272AC-4A9E-4DCF-96DE-108379407F79}" type="datetimeFigureOut">
              <a:rPr lang="de-AT" smtClean="0"/>
              <a:t>30.01.2026</a:t>
            </a:fld>
            <a:endParaRPr lang="de-A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9A4D1-EA8B-43D7-AE52-B0ED79F0AB7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43489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272AC-4A9E-4DCF-96DE-108379407F79}" type="datetimeFigureOut">
              <a:rPr lang="de-AT" smtClean="0"/>
              <a:t>30.01.2026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9A4D1-EA8B-43D7-AE52-B0ED79F0AB7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756659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272AC-4A9E-4DCF-96DE-108379407F79}" type="datetimeFigureOut">
              <a:rPr lang="de-AT" smtClean="0"/>
              <a:t>30.01.2026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9A4D1-EA8B-43D7-AE52-B0ED79F0AB7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66766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272AC-4A9E-4DCF-96DE-108379407F79}" type="datetimeFigureOut">
              <a:rPr lang="de-AT" smtClean="0"/>
              <a:t>30.01.2026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9A4D1-EA8B-43D7-AE52-B0ED79F0AB7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138067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272AC-4A9E-4DCF-96DE-108379407F79}" type="datetimeFigureOut">
              <a:rPr lang="de-AT" smtClean="0"/>
              <a:t>30.01.2026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9A4D1-EA8B-43D7-AE52-B0ED79F0AB7D}" type="slidenum">
              <a:rPr lang="de-AT" smtClean="0"/>
              <a:t>‹Nr.›</a:t>
            </a:fld>
            <a:endParaRPr lang="de-AT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994240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272AC-4A9E-4DCF-96DE-108379407F79}" type="datetimeFigureOut">
              <a:rPr lang="de-AT" smtClean="0"/>
              <a:t>30.01.2026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9A4D1-EA8B-43D7-AE52-B0ED79F0AB7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390910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 für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272AC-4A9E-4DCF-96DE-108379407F79}" type="datetimeFigureOut">
              <a:rPr lang="de-AT" smtClean="0"/>
              <a:t>30.01.2026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9A4D1-EA8B-43D7-AE52-B0ED79F0AB7D}" type="slidenum">
              <a:rPr lang="de-AT" smtClean="0"/>
              <a:t>‹Nr.›</a:t>
            </a:fld>
            <a:endParaRPr lang="de-AT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694180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hr oder Fal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272AC-4A9E-4DCF-96DE-108379407F79}" type="datetimeFigureOut">
              <a:rPr lang="de-AT" smtClean="0"/>
              <a:t>30.01.2026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9A4D1-EA8B-43D7-AE52-B0ED79F0AB7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7527074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272AC-4A9E-4DCF-96DE-108379407F79}" type="datetimeFigureOut">
              <a:rPr lang="de-AT" smtClean="0"/>
              <a:t>30.01.2026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9A4D1-EA8B-43D7-AE52-B0ED79F0AB7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004308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272AC-4A9E-4DCF-96DE-108379407F79}" type="datetimeFigureOut">
              <a:rPr lang="de-AT" smtClean="0"/>
              <a:t>30.01.2026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9A4D1-EA8B-43D7-AE52-B0ED79F0AB7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53439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F272AC-4A9E-4DCF-96DE-108379407F79}" type="datetimeFigureOut">
              <a:rPr lang="de-AT" smtClean="0"/>
              <a:t>30.01.2026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009A4D1-EA8B-43D7-AE52-B0ED79F0AB7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545728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.giss.nasa.gov/gistemp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iss.nasa.gov/pubs/abs/le07900t.html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F8BEA3-EE9D-DB05-C3B6-A531F1DC91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9878" y="2404531"/>
            <a:ext cx="9507894" cy="1646302"/>
          </a:xfrm>
        </p:spPr>
        <p:txBody>
          <a:bodyPr/>
          <a:lstStyle/>
          <a:p>
            <a:r>
              <a:rPr lang="de-AT" dirty="0"/>
              <a:t>Analyse globaler Land-Ozean-Temperaturanomalien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4F51A63-16DD-6BA7-50D3-A6BC3CDF7F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AT" dirty="0"/>
              <a:t>Projekt von Fink Erwin </a:t>
            </a:r>
          </a:p>
        </p:txBody>
      </p:sp>
    </p:spTree>
    <p:extLst>
      <p:ext uri="{BB962C8B-B14F-4D97-AF65-F5344CB8AC3E}">
        <p14:creationId xmlns:p14="http://schemas.microsoft.com/office/powerpoint/2010/main" val="858399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24ABE4-4F9B-B694-432D-20C6C5C2F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AT" dirty="0"/>
              <a:t>Der Datensatz </a:t>
            </a:r>
          </a:p>
        </p:txBody>
      </p:sp>
      <p:pic>
        <p:nvPicPr>
          <p:cNvPr id="5" name="Inhaltsplatzhalter 4" descr="Ein Bild, das Text, Muster, Screenshot, Quadrat enthält.&#10;&#10;KI-generierte Inhalte können fehlerhaft sein.">
            <a:extLst>
              <a:ext uri="{FF2B5EF4-FFF2-40B4-BE49-F238E27FC236}">
                <a16:creationId xmlns:a16="http://schemas.microsoft.com/office/drawing/2014/main" id="{A1D6F2A8-EA2A-FEDF-5975-2A0C0A6612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659"/>
          <a:stretch/>
        </p:blipFill>
        <p:spPr>
          <a:xfrm>
            <a:off x="921785" y="1270000"/>
            <a:ext cx="8596312" cy="2025650"/>
          </a:xfr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EAED5DA3-4FA3-962A-7B69-4B31843F332C}"/>
              </a:ext>
            </a:extLst>
          </p:cNvPr>
          <p:cNvSpPr txBox="1"/>
          <p:nvPr/>
        </p:nvSpPr>
        <p:spPr>
          <a:xfrm>
            <a:off x="921785" y="3429000"/>
            <a:ext cx="8266492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Quelle: </a:t>
            </a:r>
          </a:p>
          <a:p>
            <a:r>
              <a:rPr lang="de-AT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GISTEMP Team, 2025: </a:t>
            </a:r>
            <a:r>
              <a:rPr lang="de-AT" sz="14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GISS Surface </a:t>
            </a:r>
            <a:r>
              <a:rPr lang="de-AT" sz="14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Temperature</a:t>
            </a:r>
            <a:r>
              <a:rPr lang="de-AT" sz="14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Analysis (GISTEMP), </a:t>
            </a:r>
            <a:r>
              <a:rPr lang="de-AT" sz="14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version</a:t>
            </a:r>
            <a:r>
              <a:rPr lang="de-AT" sz="14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4</a:t>
            </a:r>
            <a:r>
              <a:rPr lang="de-AT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NASA Goddard Institute </a:t>
            </a:r>
            <a:r>
              <a:rPr lang="de-AT" sz="1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for</a:t>
            </a:r>
            <a:r>
              <a:rPr lang="de-AT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Space Studies. Dataset </a:t>
            </a:r>
            <a:r>
              <a:rPr lang="de-AT" sz="1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accessed</a:t>
            </a:r>
            <a:r>
              <a:rPr lang="de-AT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2026-01-18 at </a:t>
            </a:r>
            <a:r>
              <a:rPr lang="de-AT" sz="1400" b="0" i="0" u="none" strike="noStrike" dirty="0">
                <a:solidFill>
                  <a:srgbClr val="273DA2"/>
                </a:solidFill>
                <a:effectLst/>
                <a:latin typeface="Arial" panose="020B0604020202020204" pitchFamily="34" charset="0"/>
                <a:hlinkClick r:id="rId3"/>
              </a:rPr>
              <a:t>https://data.giss.nasa.gov/gistemp/</a:t>
            </a:r>
            <a:endParaRPr lang="de-AT" sz="1400" b="0" i="0" u="none" strike="noStrike" dirty="0">
              <a:solidFill>
                <a:srgbClr val="273DA2"/>
              </a:solidFill>
              <a:effectLst/>
              <a:latin typeface="Arial" panose="020B0604020202020204" pitchFamily="34" charset="0"/>
            </a:endParaRPr>
          </a:p>
          <a:p>
            <a:r>
              <a:rPr lang="de-AT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Lenssen, N., G.A. Schmidt, M. Hendrickson, P. Jacobs, M. Menne, and R. </a:t>
            </a:r>
            <a:r>
              <a:rPr lang="de-AT" sz="1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Ruedy</a:t>
            </a:r>
            <a:r>
              <a:rPr lang="de-AT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2024: </a:t>
            </a:r>
            <a:r>
              <a:rPr lang="de-AT" sz="1400" b="0" i="0" u="none" strike="noStrike" dirty="0">
                <a:solidFill>
                  <a:srgbClr val="273DA2"/>
                </a:solidFill>
                <a:effectLst/>
                <a:latin typeface="Arial" panose="020B0604020202020204" pitchFamily="34" charset="0"/>
                <a:hlinkClick r:id="rId4"/>
              </a:rPr>
              <a:t>A GISTEMPv4 </a:t>
            </a:r>
            <a:r>
              <a:rPr lang="de-AT" sz="1400" b="0" i="0" u="none" strike="noStrike" dirty="0" err="1">
                <a:solidFill>
                  <a:srgbClr val="273DA2"/>
                </a:solidFill>
                <a:effectLst/>
                <a:latin typeface="Arial" panose="020B0604020202020204" pitchFamily="34" charset="0"/>
                <a:hlinkClick r:id="rId4"/>
              </a:rPr>
              <a:t>observational</a:t>
            </a:r>
            <a:r>
              <a:rPr lang="de-AT" sz="1400" b="0" i="0" u="none" strike="noStrike" dirty="0">
                <a:solidFill>
                  <a:srgbClr val="273DA2"/>
                </a:solidFill>
                <a:effectLst/>
                <a:latin typeface="Arial" panose="020B0604020202020204" pitchFamily="34" charset="0"/>
                <a:hlinkClick r:id="rId4"/>
              </a:rPr>
              <a:t> </a:t>
            </a:r>
            <a:r>
              <a:rPr lang="de-AT" sz="1400" b="0" i="0" u="none" strike="noStrike" dirty="0" err="1">
                <a:solidFill>
                  <a:srgbClr val="273DA2"/>
                </a:solidFill>
                <a:effectLst/>
                <a:latin typeface="Arial" panose="020B0604020202020204" pitchFamily="34" charset="0"/>
                <a:hlinkClick r:id="rId4"/>
              </a:rPr>
              <a:t>uncertainty</a:t>
            </a:r>
            <a:r>
              <a:rPr lang="de-AT" sz="1400" b="0" i="0" u="none" strike="noStrike" dirty="0">
                <a:solidFill>
                  <a:srgbClr val="273DA2"/>
                </a:solidFill>
                <a:effectLst/>
                <a:latin typeface="Arial" panose="020B0604020202020204" pitchFamily="34" charset="0"/>
                <a:hlinkClick r:id="rId4"/>
              </a:rPr>
              <a:t> </a:t>
            </a:r>
            <a:r>
              <a:rPr lang="de-AT" sz="1400" b="0" i="0" u="none" strike="noStrike" dirty="0" err="1">
                <a:solidFill>
                  <a:srgbClr val="273DA2"/>
                </a:solidFill>
                <a:effectLst/>
                <a:latin typeface="Arial" panose="020B0604020202020204" pitchFamily="34" charset="0"/>
                <a:hlinkClick r:id="rId4"/>
              </a:rPr>
              <a:t>ensemble</a:t>
            </a:r>
            <a:r>
              <a:rPr lang="de-AT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 </a:t>
            </a:r>
            <a:r>
              <a:rPr lang="de-AT" sz="14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J. </a:t>
            </a:r>
            <a:r>
              <a:rPr lang="de-AT" sz="14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Geophys</a:t>
            </a:r>
            <a:r>
              <a:rPr lang="de-AT" sz="14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Res. Atmos.</a:t>
            </a:r>
            <a:r>
              <a:rPr lang="de-AT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de-AT" sz="1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129</a:t>
            </a:r>
            <a:r>
              <a:rPr lang="de-AT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de-AT" sz="1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no</a:t>
            </a:r>
            <a:r>
              <a:rPr lang="de-AT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17, e2023JD040179, doi:10.1029/2023JD040179.</a:t>
            </a:r>
          </a:p>
          <a:p>
            <a:endParaRPr lang="de-AT" b="0" i="0" u="none" strike="noStrike" dirty="0">
              <a:solidFill>
                <a:srgbClr val="273DA2"/>
              </a:solidFill>
              <a:effectLst/>
              <a:latin typeface="Arial" panose="020B0604020202020204" pitchFamily="34" charset="0"/>
            </a:endParaRPr>
          </a:p>
          <a:p>
            <a:r>
              <a:rPr lang="de-DE" dirty="0"/>
              <a:t>Daten sind Anomalien (Abweichungen von der mittleren Temperatur der entsprechenden Spalte in den Jahren 1951-1980</a:t>
            </a:r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075095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535D77-F9AF-6181-811B-6D8AF53A9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AT" dirty="0"/>
              <a:t>Datenbereinigung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23FE3FD-7452-5732-2AB7-C8F94F4F5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AT" sz="2400" dirty="0"/>
              <a:t>Überschrift wurde nicht miteingelesen</a:t>
            </a:r>
          </a:p>
          <a:p>
            <a:r>
              <a:rPr lang="de-AT" sz="2400" dirty="0"/>
              <a:t>Erste Zeile (Jahr 1880) wurde wegen fehlenden Einträgen entfernt</a:t>
            </a:r>
          </a:p>
          <a:p>
            <a:r>
              <a:rPr lang="de-AT" sz="2400" dirty="0"/>
              <a:t>Zwei Spalten mussten in numerische Werte umgewandelt werden</a:t>
            </a:r>
          </a:p>
        </p:txBody>
      </p:sp>
    </p:spTree>
    <p:extLst>
      <p:ext uri="{BB962C8B-B14F-4D97-AF65-F5344CB8AC3E}">
        <p14:creationId xmlns:p14="http://schemas.microsoft.com/office/powerpoint/2010/main" val="641353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864273-7B50-9E0A-4AB3-41F491047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Statistische Zusammenfassung </a:t>
            </a:r>
          </a:p>
        </p:txBody>
      </p:sp>
      <p:pic>
        <p:nvPicPr>
          <p:cNvPr id="5" name="Inhaltsplatzhalter 4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59A1EC91-6E5B-0E11-9F5F-2B88332CE8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467" y="1444736"/>
            <a:ext cx="6444293" cy="2212864"/>
          </a:xfr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33A7BD34-A55B-790F-4189-7ED22D18CB4B}"/>
              </a:ext>
            </a:extLst>
          </p:cNvPr>
          <p:cNvSpPr txBox="1"/>
          <p:nvPr/>
        </p:nvSpPr>
        <p:spPr>
          <a:xfrm>
            <a:off x="816467" y="4031071"/>
            <a:ext cx="814092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de-A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dirty="0"/>
              <a:t>Mittlere Anomalie: 0.08 °C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dirty="0"/>
              <a:t>Stärkste Schwankungen im Winter, geringste im Sommer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dirty="0"/>
              <a:t>Kältestes Jahr war 1909 mit einer Anomalie von -0.49 °C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dirty="0"/>
              <a:t>Wärmstes Jahr war 2024 mit einer Jahresanomalie von 1.28 °C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dirty="0"/>
              <a:t>Kältester Winter: -0.68 °C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dirty="0"/>
              <a:t>Wärmster Sommer: 1.23 °C, Wärmster Herbst: 1.41 °C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A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AT" dirty="0"/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261430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809FCB-BA9E-6D25-73D6-116F6CBF7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AT" dirty="0"/>
              <a:t>Globale Temperaturentwicklung </a:t>
            </a:r>
          </a:p>
        </p:txBody>
      </p:sp>
      <p:pic>
        <p:nvPicPr>
          <p:cNvPr id="5" name="Inhaltsplatzhalter 4" descr="Ein Bild, das Text, Reihe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7E87B668-842A-110C-B844-C73244CB96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135553"/>
            <a:ext cx="7665731" cy="3468882"/>
          </a:xfr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EF3252D3-E1D3-F987-B27C-A8641CCE9E3A}"/>
              </a:ext>
            </a:extLst>
          </p:cNvPr>
          <p:cNvSpPr txBox="1"/>
          <p:nvPr/>
        </p:nvSpPr>
        <p:spPr>
          <a:xfrm>
            <a:off x="1299407" y="4604435"/>
            <a:ext cx="735252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keine tendenzielle Temperatursteigung in den Jahren 1880-1940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dirty="0"/>
              <a:t>1940-1945 Temperaturanstieg durch Zweiten Weltkrieg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dirty="0"/>
              <a:t>Bis 1980 stets im Bereich -0.2°C bis 0.2°C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dirty="0"/>
              <a:t>Seit 1980 tendenzieller Anstieg mit Unterbrechungen in der Coronazeit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dirty="0"/>
              <a:t>Danach erneut starker Anstieg im Jahr 2023 </a:t>
            </a:r>
          </a:p>
        </p:txBody>
      </p:sp>
    </p:spTree>
    <p:extLst>
      <p:ext uri="{BB962C8B-B14F-4D97-AF65-F5344CB8AC3E}">
        <p14:creationId xmlns:p14="http://schemas.microsoft.com/office/powerpoint/2010/main" val="3773409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D5DA51-0B52-9F84-2270-7BA0D270E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AT" dirty="0"/>
              <a:t>Temperatur pro Jahrzehnt </a:t>
            </a:r>
          </a:p>
        </p:txBody>
      </p:sp>
      <p:pic>
        <p:nvPicPr>
          <p:cNvPr id="5" name="Inhaltsplatzhalter 4" descr="Ein Bild, das Text, Diagramm, Reihe, Zahl enthält.&#10;&#10;KI-generierte Inhalte können fehlerhaft sein.">
            <a:extLst>
              <a:ext uri="{FF2B5EF4-FFF2-40B4-BE49-F238E27FC236}">
                <a16:creationId xmlns:a16="http://schemas.microsoft.com/office/drawing/2014/main" id="{4938D249-4381-EE03-08C6-A030D748F5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6171" y="1270000"/>
            <a:ext cx="7218994" cy="3609497"/>
          </a:xfr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12518353-A906-C9D5-7F02-CE7215C77A15}"/>
              </a:ext>
            </a:extLst>
          </p:cNvPr>
          <p:cNvSpPr txBox="1"/>
          <p:nvPr/>
        </p:nvSpPr>
        <p:spPr>
          <a:xfrm>
            <a:off x="1950097" y="4805266"/>
            <a:ext cx="687603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sz="1600" dirty="0"/>
              <a:t>Kältestes Jahrzehnt (1901-1910)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sz="1600" dirty="0"/>
              <a:t>Danach Anstieg der durchschnittlichen Temperatur pro Jahrzehnt um 0.1°C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sz="1600" dirty="0"/>
              <a:t>Kaum Anstieg im Bereich 1940-1980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sz="1600" dirty="0"/>
              <a:t>Seit 1980 ist jedes Jahrzehnt deutlich wärmer als das vorige </a:t>
            </a:r>
          </a:p>
        </p:txBody>
      </p:sp>
    </p:spTree>
    <p:extLst>
      <p:ext uri="{BB962C8B-B14F-4D97-AF65-F5344CB8AC3E}">
        <p14:creationId xmlns:p14="http://schemas.microsoft.com/office/powerpoint/2010/main" val="2713165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0C7CAC-BA33-5BCD-BABB-E676888D0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AT" dirty="0"/>
              <a:t>Sommer und Winter-Vergleich</a:t>
            </a:r>
          </a:p>
        </p:txBody>
      </p:sp>
      <p:pic>
        <p:nvPicPr>
          <p:cNvPr id="5" name="Inhaltsplatzhalter 4" descr="Ein Bild, das Text,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25F14058-93D6-9DEB-00B7-C1461C7479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231" y="1171543"/>
            <a:ext cx="7762874" cy="3881437"/>
          </a:xfr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1BE9BCFA-20E4-329F-66E2-0E961AF3D6FD}"/>
              </a:ext>
            </a:extLst>
          </p:cNvPr>
          <p:cNvSpPr txBox="1"/>
          <p:nvPr/>
        </p:nvSpPr>
        <p:spPr>
          <a:xfrm>
            <a:off x="1660849" y="5162978"/>
            <a:ext cx="61762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dirty="0"/>
              <a:t>1880-1920: Immer wieder kalte Winter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dirty="0"/>
              <a:t>Danach wenig Auffälligkeiten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dirty="0"/>
              <a:t>2017-2025: Starke Schwankungen bei Wintertemperaturen </a:t>
            </a:r>
          </a:p>
        </p:txBody>
      </p:sp>
    </p:spTree>
    <p:extLst>
      <p:ext uri="{BB962C8B-B14F-4D97-AF65-F5344CB8AC3E}">
        <p14:creationId xmlns:p14="http://schemas.microsoft.com/office/powerpoint/2010/main" val="2690407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613016-1305-AF3C-40C3-6F02AB9D0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AT" dirty="0"/>
              <a:t>Jänner und Juli-Vergleich </a:t>
            </a:r>
          </a:p>
        </p:txBody>
      </p:sp>
      <p:pic>
        <p:nvPicPr>
          <p:cNvPr id="5" name="Inhaltsplatzhalter 4" descr="Ein Bild, das Text, Diagramm, Screenshot, Reihe enthält.&#10;&#10;KI-generierte Inhalte können fehlerhaft sein.">
            <a:extLst>
              <a:ext uri="{FF2B5EF4-FFF2-40B4-BE49-F238E27FC236}">
                <a16:creationId xmlns:a16="http://schemas.microsoft.com/office/drawing/2014/main" id="{C6D45051-E948-AA49-7BF8-BF64466877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944" y="1414139"/>
            <a:ext cx="4657724" cy="3881437"/>
          </a:xfrm>
        </p:spPr>
      </p:pic>
      <p:pic>
        <p:nvPicPr>
          <p:cNvPr id="7" name="Grafik 6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5325848E-919A-75CB-8710-5AF3006D4E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0884" y="1405165"/>
            <a:ext cx="4732975" cy="3944146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114CBD02-9421-B4B3-A63C-AA57D1B38AFC}"/>
              </a:ext>
            </a:extLst>
          </p:cNvPr>
          <p:cNvSpPr txBox="1"/>
          <p:nvPr/>
        </p:nvSpPr>
        <p:spPr>
          <a:xfrm>
            <a:off x="942392" y="5533053"/>
            <a:ext cx="5570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Temperaturen stabiler in den Jahren 1880-1950</a:t>
            </a:r>
          </a:p>
        </p:txBody>
      </p:sp>
    </p:spTree>
    <p:extLst>
      <p:ext uri="{BB962C8B-B14F-4D97-AF65-F5344CB8AC3E}">
        <p14:creationId xmlns:p14="http://schemas.microsoft.com/office/powerpoint/2010/main" val="27730949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7F39D3-DF87-6CE2-FCEF-ECB5D208A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AT" dirty="0"/>
              <a:t>Cluster-Erkennung </a:t>
            </a:r>
          </a:p>
        </p:txBody>
      </p:sp>
      <p:pic>
        <p:nvPicPr>
          <p:cNvPr id="5" name="Inhaltsplatzhalter 4" descr="Ein Bild, das Text, Reihe, Diagramm, Zahl enthält.&#10;&#10;KI-generierte Inhalte können fehlerhaft sein.">
            <a:extLst>
              <a:ext uri="{FF2B5EF4-FFF2-40B4-BE49-F238E27FC236}">
                <a16:creationId xmlns:a16="http://schemas.microsoft.com/office/drawing/2014/main" id="{5E7E30BD-565B-5EEE-BC98-AFA1D1D38F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64" y="1270000"/>
            <a:ext cx="8351739" cy="4639855"/>
          </a:xfrm>
        </p:spPr>
      </p:pic>
    </p:spTree>
    <p:extLst>
      <p:ext uri="{BB962C8B-B14F-4D97-AF65-F5344CB8AC3E}">
        <p14:creationId xmlns:p14="http://schemas.microsoft.com/office/powerpoint/2010/main" val="6400723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1FFF44-420B-B2E6-4C7B-3181EE692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AT" dirty="0"/>
              <a:t>Jahre nach Monatsprofil-Clustern</a:t>
            </a:r>
          </a:p>
        </p:txBody>
      </p:sp>
      <p:pic>
        <p:nvPicPr>
          <p:cNvPr id="5" name="Inhaltsplatzhalter 4" descr="Ein Bild, das Text, Reihe, Diagramm, Screenshot enthält.&#10;&#10;KI-generierte Inhalte können fehlerhaft sein.">
            <a:extLst>
              <a:ext uri="{FF2B5EF4-FFF2-40B4-BE49-F238E27FC236}">
                <a16:creationId xmlns:a16="http://schemas.microsoft.com/office/drawing/2014/main" id="{E7D0FC55-C448-11BC-4B9C-D2BFDA64DB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60" y="1651520"/>
            <a:ext cx="9956095" cy="3982437"/>
          </a:xfrm>
        </p:spPr>
      </p:pic>
    </p:spTree>
    <p:extLst>
      <p:ext uri="{BB962C8B-B14F-4D97-AF65-F5344CB8AC3E}">
        <p14:creationId xmlns:p14="http://schemas.microsoft.com/office/powerpoint/2010/main" val="11909393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D7C568-F280-3A8C-6D9E-F334A06AF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Wichtigkeit der einzelnen Monate </a:t>
            </a:r>
          </a:p>
        </p:txBody>
      </p:sp>
      <p:pic>
        <p:nvPicPr>
          <p:cNvPr id="5" name="Inhaltsplatzhalter 4" descr="Ein Bild, das Text, Screenshot, Reihe, Zahl enthält.&#10;&#10;KI-generierte Inhalte können fehlerhaft sein.">
            <a:extLst>
              <a:ext uri="{FF2B5EF4-FFF2-40B4-BE49-F238E27FC236}">
                <a16:creationId xmlns:a16="http://schemas.microsoft.com/office/drawing/2014/main" id="{EC3B9208-F0CC-99A4-1534-D3B84C7F65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121" y="1270000"/>
            <a:ext cx="6150529" cy="4835853"/>
          </a:xfr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3BC92ACB-DD8D-0F04-F73C-5D8F2FFB5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373163"/>
            <a:ext cx="3242238" cy="778674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C12D180C-019C-A88B-C9F6-92F059BDCF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1385" y="1399202"/>
            <a:ext cx="5414475" cy="2973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334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0220D3-D441-1F51-266A-89E14D559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AT" dirty="0"/>
              <a:t>Korrelation zwischen den Monaten </a:t>
            </a:r>
          </a:p>
        </p:txBody>
      </p:sp>
      <p:pic>
        <p:nvPicPr>
          <p:cNvPr id="9" name="Inhaltsplatzhalter 8" descr="Ein Bild, das Screenshot, Farbigkeit enthält.&#10;&#10;KI-generierte Inhalte können fehlerhaft sein.">
            <a:extLst>
              <a:ext uri="{FF2B5EF4-FFF2-40B4-BE49-F238E27FC236}">
                <a16:creationId xmlns:a16="http://schemas.microsoft.com/office/drawing/2014/main" id="{2EA9EAE8-41F2-327E-9C76-CBF94EA62E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88" t="6239" r="13896" b="4792"/>
          <a:stretch/>
        </p:blipFill>
        <p:spPr>
          <a:xfrm>
            <a:off x="1118681" y="1324751"/>
            <a:ext cx="6780179" cy="5533249"/>
          </a:xfrm>
        </p:spPr>
      </p:pic>
    </p:spTree>
    <p:extLst>
      <p:ext uri="{BB962C8B-B14F-4D97-AF65-F5344CB8AC3E}">
        <p14:creationId xmlns:p14="http://schemas.microsoft.com/office/powerpoint/2010/main" val="17926613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FEFB08-6E82-21CA-EDB0-F59A3EAA0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AT" dirty="0"/>
              <a:t>„Prognose“ bis 2050 mit allen Daten</a:t>
            </a:r>
          </a:p>
        </p:txBody>
      </p:sp>
      <p:pic>
        <p:nvPicPr>
          <p:cNvPr id="5" name="Inhaltsplatzhalter 4" descr="Ein Bild, das Text, Reihe, Diagramm, Screenshot enthält.&#10;&#10;KI-generierte Inhalte können fehlerhaft sein.">
            <a:extLst>
              <a:ext uri="{FF2B5EF4-FFF2-40B4-BE49-F238E27FC236}">
                <a16:creationId xmlns:a16="http://schemas.microsoft.com/office/drawing/2014/main" id="{892A88C1-76C5-15DF-1EFB-BBACF96F4D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180874"/>
            <a:ext cx="7762874" cy="3881437"/>
          </a:xfr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EAFD4DEA-923D-193A-2C1E-C3C5406750AE}"/>
              </a:ext>
            </a:extLst>
          </p:cNvPr>
          <p:cNvSpPr txBox="1"/>
          <p:nvPr/>
        </p:nvSpPr>
        <p:spPr>
          <a:xfrm>
            <a:off x="1526541" y="5076961"/>
            <a:ext cx="60644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dirty="0"/>
              <a:t>Prognose mit polynomialer Regression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dirty="0"/>
              <a:t>Prognostiziert Temperaturanomalie von 1.63°C (Anstieg um 0.44 °C vom J-D von 2025)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6364284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0FBB90-A7F6-0281-718C-FE8711847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AT" dirty="0"/>
              <a:t>Code zur polynomialen Regression 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6889318-53EF-972A-2E5C-4A43905FB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274" y="1472823"/>
            <a:ext cx="6123812" cy="489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6219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F239A6-3AB3-1180-6A72-64A3ACE3E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AT" dirty="0"/>
              <a:t>„Prognose“ bis 2050 mit Daten ab 1980</a:t>
            </a:r>
          </a:p>
        </p:txBody>
      </p:sp>
      <p:pic>
        <p:nvPicPr>
          <p:cNvPr id="18" name="Inhaltsplatzhalter 17" descr="Ein Bild, das Text, Reihe, Diagramm, Zahl enthält.&#10;&#10;KI-generierte Inhalte können fehlerhaft sein.">
            <a:extLst>
              <a:ext uri="{FF2B5EF4-FFF2-40B4-BE49-F238E27FC236}">
                <a16:creationId xmlns:a16="http://schemas.microsoft.com/office/drawing/2014/main" id="{E65C1EBA-EC7D-68A5-C139-0722BCE81A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680" y="1190204"/>
            <a:ext cx="7762874" cy="3881437"/>
          </a:xfrm>
        </p:spPr>
      </p:pic>
      <p:sp>
        <p:nvSpPr>
          <p:cNvPr id="21" name="Textfeld 20">
            <a:extLst>
              <a:ext uri="{FF2B5EF4-FFF2-40B4-BE49-F238E27FC236}">
                <a16:creationId xmlns:a16="http://schemas.microsoft.com/office/drawing/2014/main" id="{45EAC538-CF2B-6337-CC08-F5217442B76F}"/>
              </a:ext>
            </a:extLst>
          </p:cNvPr>
          <p:cNvSpPr txBox="1"/>
          <p:nvPr/>
        </p:nvSpPr>
        <p:spPr>
          <a:xfrm>
            <a:off x="1464905" y="5206131"/>
            <a:ext cx="662473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dirty="0"/>
              <a:t>Prognose mit linearer Regression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dirty="0"/>
              <a:t>Prognostiziert Temperaturanomalie von 1.57°C (Anstieg um 0.38 °C vom J-D von 2025)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dirty="0"/>
              <a:t>1.6°C, wenn Punkte in Coronazeit ausgenommen werden</a:t>
            </a:r>
          </a:p>
        </p:txBody>
      </p:sp>
    </p:spTree>
    <p:extLst>
      <p:ext uri="{BB962C8B-B14F-4D97-AF65-F5344CB8AC3E}">
        <p14:creationId xmlns:p14="http://schemas.microsoft.com/office/powerpoint/2010/main" val="37627156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4CAA10-6601-A452-721A-CC965C966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AT" dirty="0"/>
              <a:t>Temperatur-Prädiktion mit LSTM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5EF6359-40D4-49AD-9355-FF39585BC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sz="2400" dirty="0"/>
              <a:t>LSTM: Long-Short-Term-Memory</a:t>
            </a:r>
          </a:p>
          <a:p>
            <a:r>
              <a:rPr lang="de-DE" sz="2400" dirty="0"/>
              <a:t>Neuronales Netz für Zeitreihen, das sich wichtige Informationen über viele Zeitschritte hinweg merken kann.</a:t>
            </a:r>
            <a:endParaRPr lang="de-AT" sz="2400" dirty="0"/>
          </a:p>
          <a:p>
            <a:r>
              <a:rPr lang="de-AT" sz="2400" dirty="0"/>
              <a:t>Lernt aus einer bestimmten Anzahl an vergangenen Monaten die Temperatur für den darauffolgenden Monat </a:t>
            </a:r>
          </a:p>
          <a:p>
            <a:r>
              <a:rPr lang="de-AT" sz="2400" dirty="0"/>
              <a:t>Speichert relevante Muster (Trends, </a:t>
            </a:r>
            <a:r>
              <a:rPr lang="de-AT" sz="2400" dirty="0" err="1"/>
              <a:t>Jahreszykeln</a:t>
            </a:r>
            <a:r>
              <a:rPr lang="de-AT" sz="2400" dirty="0"/>
              <a:t>) und vergisst unwichtige Informationen</a:t>
            </a:r>
          </a:p>
          <a:p>
            <a:endParaRPr lang="de-AT" dirty="0"/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0730773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037C56-2C24-64F7-476E-143F8815B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AT" dirty="0"/>
              <a:t>Codeausschnitt für L</a:t>
            </a:r>
          </a:p>
        </p:txBody>
      </p:sp>
      <p:pic>
        <p:nvPicPr>
          <p:cNvPr id="6" name="Inhaltsplatzhalter 5" descr="Ein Bild, das Text, Screenshot enthält.&#10;&#10;KI-generierte Inhalte können fehlerhaft sein.">
            <a:extLst>
              <a:ext uri="{FF2B5EF4-FFF2-40B4-BE49-F238E27FC236}">
                <a16:creationId xmlns:a16="http://schemas.microsoft.com/office/drawing/2014/main" id="{B03E27CD-1CC0-F212-B848-F8EF9969E8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286367"/>
            <a:ext cx="7570927" cy="5492778"/>
          </a:xfrm>
        </p:spPr>
      </p:pic>
    </p:spTree>
    <p:extLst>
      <p:ext uri="{BB962C8B-B14F-4D97-AF65-F5344CB8AC3E}">
        <p14:creationId xmlns:p14="http://schemas.microsoft.com/office/powerpoint/2010/main" val="13763551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BF108C-92CA-B9BC-A835-4CE424A6E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AT" dirty="0"/>
              <a:t>Wie gut sagt LSTM Anomalien von 2010 bis 2025 voraus?</a:t>
            </a:r>
          </a:p>
        </p:txBody>
      </p:sp>
      <p:pic>
        <p:nvPicPr>
          <p:cNvPr id="5" name="Inhaltsplatzhalter 4" descr="Ein Bild, das Text, Reihe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3FF7496B-09C8-5304-BA38-CC0DD6BD90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50" y="1720461"/>
            <a:ext cx="9735099" cy="4056291"/>
          </a:xfr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99F04CE2-A3CA-6546-870E-2533152FD8F4}"/>
              </a:ext>
            </a:extLst>
          </p:cNvPr>
          <p:cNvSpPr txBox="1"/>
          <p:nvPr/>
        </p:nvSpPr>
        <p:spPr>
          <a:xfrm>
            <a:off x="677334" y="6072110"/>
            <a:ext cx="1655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MAPE: 10.85%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5D26AE7-4F34-022F-B363-B216BEF00084}"/>
              </a:ext>
            </a:extLst>
          </p:cNvPr>
          <p:cNvSpPr txBox="1"/>
          <p:nvPr/>
        </p:nvSpPr>
        <p:spPr>
          <a:xfrm>
            <a:off x="2883159" y="5795111"/>
            <a:ext cx="692331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600" b="1" dirty="0"/>
              <a:t>Vorhersage für Jänner 2026: 1.09 °C</a:t>
            </a:r>
          </a:p>
          <a:p>
            <a:r>
              <a:rPr lang="de-AT" sz="1600" dirty="0"/>
              <a:t>Vergleich: Jänner 2023: 0.88 °C</a:t>
            </a:r>
          </a:p>
          <a:p>
            <a:r>
              <a:rPr lang="de-AT" sz="1600" dirty="0"/>
              <a:t>                Jänner 2024: 1.25 °C</a:t>
            </a:r>
          </a:p>
          <a:p>
            <a:r>
              <a:rPr lang="de-AT" sz="1600" dirty="0"/>
              <a:t>                Jänner 2025: 1.38 °C</a:t>
            </a:r>
          </a:p>
        </p:txBody>
      </p:sp>
    </p:spTree>
    <p:extLst>
      <p:ext uri="{BB962C8B-B14F-4D97-AF65-F5344CB8AC3E}">
        <p14:creationId xmlns:p14="http://schemas.microsoft.com/office/powerpoint/2010/main" val="413864292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488</Words>
  <Application>Microsoft Office PowerPoint</Application>
  <PresentationFormat>Breitbild</PresentationFormat>
  <Paragraphs>62</Paragraphs>
  <Slides>18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18</vt:i4>
      </vt:variant>
    </vt:vector>
  </HeadingPairs>
  <TitlesOfParts>
    <vt:vector size="22" baseType="lpstr">
      <vt:lpstr>Arial</vt:lpstr>
      <vt:lpstr>Trebuchet MS</vt:lpstr>
      <vt:lpstr>Wingdings 3</vt:lpstr>
      <vt:lpstr>Facette</vt:lpstr>
      <vt:lpstr>Analyse globaler Land-Ozean-Temperaturanomalien</vt:lpstr>
      <vt:lpstr>Der Datensatz </vt:lpstr>
      <vt:lpstr>Datenbereinigung </vt:lpstr>
      <vt:lpstr>Statistische Zusammenfassung </vt:lpstr>
      <vt:lpstr>Globale Temperaturentwicklung </vt:lpstr>
      <vt:lpstr>Temperatur pro Jahrzehnt </vt:lpstr>
      <vt:lpstr>Sommer und Winter-Vergleich</vt:lpstr>
      <vt:lpstr>Jänner und Juli-Vergleich </vt:lpstr>
      <vt:lpstr>Cluster-Erkennung </vt:lpstr>
      <vt:lpstr>Jahre nach Monatsprofil-Clustern</vt:lpstr>
      <vt:lpstr>Wichtigkeit der einzelnen Monate </vt:lpstr>
      <vt:lpstr>Korrelation zwischen den Monaten </vt:lpstr>
      <vt:lpstr>„Prognose“ bis 2050 mit allen Daten</vt:lpstr>
      <vt:lpstr>Code zur polynomialen Regression </vt:lpstr>
      <vt:lpstr>„Prognose“ bis 2050 mit Daten ab 1980</vt:lpstr>
      <vt:lpstr>Temperatur-Prädiktion mit LSTM </vt:lpstr>
      <vt:lpstr>Codeausschnitt für L</vt:lpstr>
      <vt:lpstr>Wie gut sagt LSTM Anomalien von 2010 bis 2025 voraus?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Erwin Fink</dc:creator>
  <cp:lastModifiedBy>Erwin Fink</cp:lastModifiedBy>
  <cp:revision>3</cp:revision>
  <dcterms:created xsi:type="dcterms:W3CDTF">2026-01-20T18:11:05Z</dcterms:created>
  <dcterms:modified xsi:type="dcterms:W3CDTF">2026-01-30T11:45:48Z</dcterms:modified>
</cp:coreProperties>
</file>